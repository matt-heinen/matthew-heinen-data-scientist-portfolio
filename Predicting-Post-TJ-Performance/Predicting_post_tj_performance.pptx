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8BCD0-6B3A-1F41-B150-001DA6760816}" type="datetimeFigureOut">
              <a:rPr lang="en-US" smtClean="0"/>
              <a:t>3/2/25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7CE36-6A11-554F-A080-FE2543A37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5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7CE36-6A11-554F-A080-FE2543A379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3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3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1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43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1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1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00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3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9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308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814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344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74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034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891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18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Pitcher Performance Post Tommy John Surgery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latin typeface="Aptos Display"/>
                <a:cs typeface="Times New Roman"/>
              </a:rPr>
              <a:t>Matthew Heinen</a:t>
            </a:r>
            <a:endParaRPr lang="en-US" sz="2000"/>
          </a:p>
          <a:p>
            <a:pPr>
              <a:lnSpc>
                <a:spcPct val="120000"/>
              </a:lnSpc>
            </a:pPr>
            <a:r>
              <a:rPr lang="en-US" sz="2000" dirty="0">
                <a:latin typeface="Aptos Display"/>
                <a:cs typeface="Times New Roman"/>
              </a:rPr>
              <a:t>Bellevue University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Aptos Display"/>
                <a:cs typeface="Times New Roman"/>
              </a:rPr>
              <a:t>DSC 630: Predictive Analytics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Aptos Display"/>
                <a:cs typeface="Times New Roman"/>
              </a:rPr>
              <a:t>Professor Hua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Aptos Display"/>
                <a:cs typeface="Times New Roman"/>
              </a:rPr>
              <a:t>2/22/2025</a:t>
            </a:r>
          </a:p>
          <a:p>
            <a:pPr>
              <a:lnSpc>
                <a:spcPct val="120000"/>
              </a:lnSpc>
            </a:pPr>
            <a:endParaRPr lang="en-US" sz="2000" dirty="0">
              <a:latin typeface="Aptos Display"/>
            </a:endParaRP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5875DFCE-C3DB-6850-8F1E-3DB3B128C6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56"/>
    </mc:Choice>
    <mc:Fallback>
      <p:transition spd="slow" advTm="9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AF12-A113-896C-21CE-C840AA88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1AFA9-07CB-97CC-8E8A-9B27B5B30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Pitcher Injury Increasing. </a:t>
            </a:r>
          </a:p>
          <a:p>
            <a:r>
              <a:rPr lang="en-US" dirty="0"/>
              <a:t>MLB requires pitchers to throw max effort more often. </a:t>
            </a:r>
          </a:p>
          <a:p>
            <a:r>
              <a:rPr lang="en-US" dirty="0"/>
              <a:t>35.3% of active MLB pitchers had undergone Tommy John in 2019 (American Medical Association). </a:t>
            </a:r>
          </a:p>
          <a:p>
            <a:r>
              <a:rPr lang="en-US" dirty="0"/>
              <a:t>29% increase from 2016 season (American Medical Association).</a:t>
            </a:r>
          </a:p>
          <a:p>
            <a:r>
              <a:rPr lang="en-US" dirty="0"/>
              <a:t>“Will I require Tommy John surgery?” -&gt; “When will I require Tommy John Surgery?”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8F082A3C-BC22-1E43-ED3D-7ACD032BD2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9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846"/>
    </mc:Choice>
    <mc:Fallback>
      <p:transition spd="slow" advTm="538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A260-5FC7-C268-BB1F-BE3B8B01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and 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1C72-D23D-9800-927C-6F80FA64E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Can MLB front offices predict pitcher performance upon returning from Tommy John. </a:t>
            </a:r>
          </a:p>
          <a:p>
            <a:pPr lvl="1"/>
            <a:r>
              <a:rPr lang="en-US" dirty="0"/>
              <a:t>Pitcher performance (effectiveness in offense suppression). </a:t>
            </a:r>
          </a:p>
          <a:p>
            <a:pPr lvl="1"/>
            <a:r>
              <a:rPr lang="en-US" dirty="0"/>
              <a:t>Durability.</a:t>
            </a:r>
          </a:p>
          <a:p>
            <a:r>
              <a:rPr lang="en-US" dirty="0"/>
              <a:t>Competitive advantage over rival clubs. </a:t>
            </a:r>
          </a:p>
          <a:p>
            <a:r>
              <a:rPr lang="en-US" dirty="0"/>
              <a:t>Better allocation of contract salary. </a:t>
            </a:r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19C685A8-C72F-0EC5-1B4F-7963F6B785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73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526"/>
    </mc:Choice>
    <mc:Fallback>
      <p:transition spd="slow" advTm="735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2530-4D95-C0DD-DE8B-C02E3B24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Features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097B8-1BFF-03EE-520B-A047597F2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Statcast</a:t>
            </a:r>
            <a:r>
              <a:rPr lang="en-US" dirty="0"/>
              <a:t> (Pitcher Performance Data)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7A2A2-190A-BABA-FC05-0B0257A720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Grouped by pitcher season. </a:t>
            </a:r>
          </a:p>
          <a:p>
            <a:r>
              <a:rPr lang="en-US" dirty="0"/>
              <a:t>Contains 71 different features. </a:t>
            </a:r>
          </a:p>
          <a:p>
            <a:r>
              <a:rPr lang="en-US" dirty="0"/>
              <a:t>Pitch mechanic data.</a:t>
            </a:r>
          </a:p>
          <a:p>
            <a:r>
              <a:rPr lang="en-US" dirty="0"/>
              <a:t>Offensive suppression data.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BF8E3-1296-DD2F-5A05-A45C0737D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Tommy John Surgery List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D7000-2F7C-C7E6-8ED4-81E61AB034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Grouped by pitcher and injury. </a:t>
            </a:r>
          </a:p>
          <a:p>
            <a:r>
              <a:rPr lang="en-US" dirty="0"/>
              <a:t>Contains 42 different features. </a:t>
            </a:r>
          </a:p>
          <a:p>
            <a:r>
              <a:rPr lang="en-US" dirty="0"/>
              <a:t>Demographic Information.</a:t>
            </a:r>
          </a:p>
          <a:p>
            <a:r>
              <a:rPr lang="en-US" dirty="0"/>
              <a:t>Injury/Surgery Information.</a:t>
            </a:r>
          </a:p>
        </p:txBody>
      </p:sp>
      <p:pic>
        <p:nvPicPr>
          <p:cNvPr id="32" name="Audio 31">
            <a:extLst>
              <a:ext uri="{FF2B5EF4-FFF2-40B4-BE49-F238E27FC236}">
                <a16:creationId xmlns:a16="http://schemas.microsoft.com/office/drawing/2014/main" id="{F10233B9-371E-252C-D12F-3414F28A76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25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339"/>
    </mc:Choice>
    <mc:Fallback>
      <p:transition spd="slow" advTm="88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CC39-2184-A809-0C9D-541EDA2A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Built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E24E5-AE4C-325C-B937-373810244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(Predicting XWOBA)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F3057-6291-22DF-09D9-DBBE49375D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XWOBA = expected weighted On base average.</a:t>
            </a:r>
          </a:p>
          <a:p>
            <a:r>
              <a:rPr lang="en-US" dirty="0"/>
              <a:t>Predicting pitchers XWOBA upon return from Tommy John Surgery.</a:t>
            </a:r>
          </a:p>
          <a:p>
            <a:r>
              <a:rPr lang="en-US" dirty="0"/>
              <a:t>Front office value: performance and effectiveness.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327AC-E2DC-7F9E-13F0-D3D41409B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Classification (Durability)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5F3E6-1D47-71C3-B004-C07DE4B9E0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Will a pitcher throw more than 500 pitches after returning from Tommy John surgery. </a:t>
            </a:r>
          </a:p>
          <a:p>
            <a:r>
              <a:rPr lang="en-US" dirty="0"/>
              <a:t>MLB median value among all pitchers 504 pitches per season. </a:t>
            </a:r>
          </a:p>
          <a:p>
            <a:r>
              <a:rPr lang="en-US" dirty="0"/>
              <a:t>Front office value: durability. </a:t>
            </a:r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7A33D6E1-6791-9DD4-62B7-ABA275067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31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358"/>
    </mc:Choice>
    <mc:Fallback>
      <p:transition spd="slow" advTm="983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6F87-A851-0CDD-A756-498B96E0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8C638-A23C-8D17-4D8A-9CD59A5B5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Handle missing values. </a:t>
            </a:r>
          </a:p>
          <a:p>
            <a:r>
              <a:rPr lang="en-US" dirty="0"/>
              <a:t>Merge </a:t>
            </a:r>
            <a:r>
              <a:rPr lang="en-US" dirty="0" err="1"/>
              <a:t>Statcast</a:t>
            </a:r>
            <a:r>
              <a:rPr lang="en-US" dirty="0"/>
              <a:t> and Tommy John Surgery List data.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On pitcher name and season.</a:t>
            </a:r>
          </a:p>
          <a:p>
            <a:r>
              <a:rPr lang="en-US" dirty="0"/>
              <a:t>Separate on pre and post Tommy John seasons.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Summarize by each player assigning appropriate aggregate function. </a:t>
            </a:r>
          </a:p>
          <a:p>
            <a:r>
              <a:rPr lang="en-US" dirty="0"/>
              <a:t>Merge data back together (one record per player) .</a:t>
            </a:r>
          </a:p>
          <a:p>
            <a:r>
              <a:rPr lang="en-US" dirty="0"/>
              <a:t>Apply train test split 80% train, 20% test. </a:t>
            </a:r>
          </a:p>
        </p:txBody>
      </p:sp>
      <p:pic>
        <p:nvPicPr>
          <p:cNvPr id="42" name="Audio 41">
            <a:extLst>
              <a:ext uri="{FF2B5EF4-FFF2-40B4-BE49-F238E27FC236}">
                <a16:creationId xmlns:a16="http://schemas.microsoft.com/office/drawing/2014/main" id="{8D792299-0157-5D9C-1019-5F51F4CC91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0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513"/>
    </mc:Choice>
    <mc:Fallback>
      <p:transition spd="slow" advTm="575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E6E9-B12E-F392-17FF-A085B51C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8A740-22C4-37D1-2CB3-54C9387F4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No statistical difference of means in </a:t>
            </a:r>
            <a:r>
              <a:rPr lang="en-US" sz="1800"/>
              <a:t>number of pitched thrown pre and </a:t>
            </a:r>
            <a:r>
              <a:rPr lang="en-US" sz="1800" dirty="0"/>
              <a:t>post Tommy John </a:t>
            </a:r>
          </a:p>
          <a:p>
            <a:r>
              <a:rPr lang="en-US" sz="1800" dirty="0"/>
              <a:t>P-Value = 0.56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1AC5F6-1261-1718-0782-99AEAA050B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091437" y="3060548"/>
            <a:ext cx="4185623" cy="321761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7F732-C160-C227-6025-65340C5CC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/>
              <a:t>Statistically significant difference between </a:t>
            </a:r>
            <a:r>
              <a:rPr lang="en-US" sz="1600"/>
              <a:t>means of XWOBA pre and post </a:t>
            </a:r>
            <a:r>
              <a:rPr lang="en-US" sz="1600" dirty="0"/>
              <a:t>Tommy John</a:t>
            </a:r>
          </a:p>
          <a:p>
            <a:r>
              <a:rPr lang="en-US" sz="1600" dirty="0"/>
              <a:t>P-Value= 0.01</a:t>
            </a:r>
          </a:p>
        </p:txBody>
      </p:sp>
      <p:pic>
        <p:nvPicPr>
          <p:cNvPr id="8" name="Content Placeholder 7" descr="A graph with blue rectangular bars&#10;&#10;AI-generated content may be incorrect.">
            <a:extLst>
              <a:ext uri="{FF2B5EF4-FFF2-40B4-BE49-F238E27FC236}">
                <a16:creationId xmlns:a16="http://schemas.microsoft.com/office/drawing/2014/main" id="{AC4AD116-DD7F-90C6-1539-A4F9C7CB7E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79205" y="3060854"/>
            <a:ext cx="4185617" cy="3203974"/>
          </a:xfrm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BDA6E12B-5148-AFB6-6327-FF79BDD1A0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12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287"/>
    </mc:Choice>
    <mc:Fallback>
      <p:transition spd="slow" advTm="552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4BE5-1973-0720-AE2C-2A6B9E50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 Predicting XWOBA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7C7CA-F44E-3992-C53B-7CA07CD01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Backwards stepwise regression (p-value 0.05)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Overfitting (72 features)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Model memorizing demographic information from surgery dataset. </a:t>
            </a:r>
          </a:p>
          <a:p>
            <a:r>
              <a:rPr lang="en-US" dirty="0"/>
              <a:t>Backwards stepwise regression (p-value 0.05) no demographic information.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Performed much better mitigated much overfitting</a:t>
            </a:r>
          </a:p>
          <a:p>
            <a:r>
              <a:rPr lang="en-US" dirty="0"/>
              <a:t>Recursive Feature elimination no demographic information.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Best fitting model. </a:t>
            </a:r>
          </a:p>
          <a:p>
            <a:pPr lvl="1">
              <a:buFont typeface="Courier New" charset="2"/>
              <a:buChar char="o"/>
            </a:pPr>
            <a:endParaRPr lang="en-US" dirty="0"/>
          </a:p>
          <a:p>
            <a:endParaRPr lang="en-US" dirty="0"/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51AE6D51-461F-742E-8569-4A702424B4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4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775"/>
    </mc:Choice>
    <mc:Fallback>
      <p:transition spd="slow" advTm="587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EF6E-ABC5-4112-B0E9-8C7F249A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Feature Elimination Model </a:t>
            </a:r>
            <a:r>
              <a:rPr lang="en-US" dirty="0"/>
              <a:t>Evaluation </a:t>
            </a:r>
          </a:p>
        </p:txBody>
      </p:sp>
      <p:pic>
        <p:nvPicPr>
          <p:cNvPr id="4" name="Content Placeholder 3" descr="A close-up of a sign&#10;&#10;AI-generated content may be incorrect.">
            <a:extLst>
              <a:ext uri="{FF2B5EF4-FFF2-40B4-BE49-F238E27FC236}">
                <a16:creationId xmlns:a16="http://schemas.microsoft.com/office/drawing/2014/main" id="{6D1572E6-E367-C2ED-569A-6D8A5DFBA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6966" y="2139946"/>
            <a:ext cx="8596668" cy="1074584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34CED3-355D-1533-9037-47BEFC856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753" y="3635040"/>
            <a:ext cx="3706730" cy="2936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4CEDB8-8A38-3F4B-9D46-E1764755CD5E}"/>
              </a:ext>
            </a:extLst>
          </p:cNvPr>
          <p:cNvSpPr txBox="1"/>
          <p:nvPr/>
        </p:nvSpPr>
        <p:spPr>
          <a:xfrm>
            <a:off x="681789" y="3769895"/>
            <a:ext cx="450035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Strong predictors: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/>
              <a:t>Batting average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/>
              <a:t>ISO (power stat)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/>
              <a:t>Slugging percentage</a:t>
            </a: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DD459312-7D7D-D43C-3B30-DF51E8070C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07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568"/>
    </mc:Choice>
    <mc:Fallback>
      <p:transition spd="slow" advTm="805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9B55-5BEC-DD56-4205-BA5D1728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Durability Classification Model </a:t>
            </a:r>
            <a:br>
              <a:rPr lang="en-US" dirty="0"/>
            </a:br>
            <a:r>
              <a:rPr lang="en-US" sz="2700">
                <a:solidFill>
                  <a:schemeClr val="accent2"/>
                </a:solidFill>
              </a:rPr>
              <a:t>Will a pitcher throw over 500 pitches upon return from Tommy John? </a:t>
            </a:r>
            <a:endParaRPr lang="en-US" sz="27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C5C1A-47FA-BB76-5816-5C10D4961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5 Different models trained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Logistic regression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Random forest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Decision Tree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Bagging(bootstrap aggregation)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Boosting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Gradient boosting</a:t>
            </a:r>
          </a:p>
          <a:p>
            <a:r>
              <a:rPr lang="en-US" dirty="0"/>
              <a:t>Grid Search Cross Validation (5 folds) 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Balances the bias variation tradeoff and minimizes the effects of overfitting.</a:t>
            </a:r>
          </a:p>
          <a:p>
            <a:r>
              <a:rPr lang="en-US" dirty="0">
                <a:solidFill>
                  <a:srgbClr val="404040"/>
                </a:solidFill>
                <a:latin typeface="Trebuchet MS"/>
                <a:cs typeface="Times New Roman"/>
              </a:rPr>
              <a:t>Model Selected: Gradient Boosting </a:t>
            </a:r>
          </a:p>
          <a:p>
            <a:pPr lvl="1">
              <a:buFont typeface="Courier New" charset="2"/>
              <a:buChar char="o"/>
            </a:pPr>
            <a:r>
              <a:rPr lang="en-US" dirty="0">
                <a:solidFill>
                  <a:srgbClr val="404040"/>
                </a:solidFill>
                <a:latin typeface="Trebuchet MS"/>
                <a:cs typeface="Times New Roman"/>
              </a:rPr>
              <a:t>Iterative process. </a:t>
            </a:r>
          </a:p>
          <a:p>
            <a:pPr lvl="1">
              <a:buFont typeface="Courier New" charset="2"/>
              <a:buChar char="o"/>
            </a:pPr>
            <a:r>
              <a:rPr lang="en-US" dirty="0">
                <a:solidFill>
                  <a:srgbClr val="404040"/>
                </a:solidFill>
                <a:latin typeface="Trebuchet MS"/>
                <a:cs typeface="Times New Roman"/>
              </a:rPr>
              <a:t>Strong accurate models with complex datasets.</a:t>
            </a:r>
          </a:p>
          <a:p>
            <a:pPr lvl="1">
              <a:buFont typeface="Courier New" charset="2"/>
              <a:buChar char="o"/>
            </a:pPr>
            <a:endParaRPr lang="en-US" sz="1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6A727B16-389B-7AFE-C015-4DD038F976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81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614"/>
    </mc:Choice>
    <mc:Fallback>
      <p:transition spd="slow" advTm="546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7969-AB0F-F618-5566-89965C4A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Model Evaluation.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8C26-33FE-130A-F62F-F33EB6FD5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31036"/>
            <a:ext cx="3712053" cy="25873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63% accuracy on test set. </a:t>
            </a:r>
          </a:p>
          <a:p>
            <a:r>
              <a:rPr lang="en-US" dirty="0"/>
              <a:t>Tendency to predict false positives.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54240-C4BF-67C8-F81E-FD7E5A6F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104" y="2333962"/>
            <a:ext cx="7409449" cy="387449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B10B9A-D4F6-F794-DDE0-489A23372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05921"/>
            <a:ext cx="12192000" cy="817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2D9D4-9A78-8E79-6C44-9D5EC33F7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09" y="3429000"/>
            <a:ext cx="3713873" cy="3238501"/>
          </a:xfrm>
          <a:prstGeom prst="rect">
            <a:avLst/>
          </a:prstGeom>
        </p:spPr>
      </p:pic>
      <p:pic>
        <p:nvPicPr>
          <p:cNvPr id="9" name="Audio 8">
            <a:extLst>
              <a:ext uri="{FF2B5EF4-FFF2-40B4-BE49-F238E27FC236}">
                <a16:creationId xmlns:a16="http://schemas.microsoft.com/office/drawing/2014/main" id="{367D31C4-A1A4-D8E1-DF54-87F7CC897B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72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362"/>
    </mc:Choice>
    <mc:Fallback>
      <p:transition spd="slow" advTm="623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91221-EC66-4184-C7D6-9C337BC5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Recommendations</a:t>
            </a:r>
            <a:br>
              <a:rPr lang="en-US" dirty="0"/>
            </a:br>
            <a:r>
              <a:rPr lang="en-US"/>
              <a:t>XWOBA Regression Model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B38DF-9759-B051-B11F-D0F742872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527AC-E42F-BF6F-52B8-C1F8C82232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Not strong enough to be sole decision maker. </a:t>
            </a:r>
          </a:p>
          <a:p>
            <a:r>
              <a:rPr lang="en-US" dirty="0"/>
              <a:t>Signs of overfitting.</a:t>
            </a:r>
          </a:p>
          <a:p>
            <a:r>
              <a:rPr lang="en-US" dirty="0"/>
              <a:t>Model can be used as part of conversation combined with more traditional scouting metrics.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ECC197-3A1B-D8B0-9094-311C463DE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Improvement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8B1D3A-3C06-85B8-6CC5-9FB3F681300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Retrain models on larger dataset. </a:t>
            </a:r>
          </a:p>
          <a:p>
            <a:r>
              <a:rPr lang="en-US" dirty="0"/>
              <a:t>Only 91 MLB pitchers have pre and post Tommy John surgery data.</a:t>
            </a:r>
          </a:p>
          <a:p>
            <a:r>
              <a:rPr lang="en-US" dirty="0"/>
              <a:t>Expand dataset to include minor league and amateur stats.</a:t>
            </a:r>
          </a:p>
          <a:p>
            <a:pPr lvl="1"/>
            <a:r>
              <a:rPr lang="en-US" dirty="0"/>
              <a:t>Reduce overfitting.</a:t>
            </a:r>
          </a:p>
          <a:p>
            <a:pPr lvl="1"/>
            <a:r>
              <a:rPr lang="en-US" dirty="0"/>
              <a:t>Stronger model. </a:t>
            </a:r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9F33FBD3-5B50-9971-D69A-1ED60B8EF2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15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967"/>
    </mc:Choice>
    <mc:Fallback>
      <p:transition spd="slow" advTm="609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C675-8DE2-31BA-FB2C-CFA2F29D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Recommendations. </a:t>
            </a:r>
            <a:br>
              <a:rPr lang="en-US" dirty="0"/>
            </a:br>
            <a:r>
              <a:rPr lang="en-US"/>
              <a:t>Durability Classification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88DFE-34A6-090A-4F8A-AC8E1CFBF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F62AD-4D52-9461-B5F1-A826E85E7F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More confident in this model.</a:t>
            </a:r>
          </a:p>
          <a:p>
            <a:r>
              <a:rPr lang="en-US" dirty="0"/>
              <a:t>63% accuracy. </a:t>
            </a:r>
          </a:p>
          <a:p>
            <a:r>
              <a:rPr lang="en-US" dirty="0"/>
              <a:t>Predictions should be used as part of conversation with player acquisition. </a:t>
            </a:r>
          </a:p>
          <a:p>
            <a:r>
              <a:rPr lang="en-US" dirty="0"/>
              <a:t>Great tool for quick trade deadline acquisitions.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F4C31-958B-DDB5-CCB6-569782CA3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Improvement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3AFB6-34C0-8F58-020C-B564180A74A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Retrain models on larger dataset.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Only 91 MLB pitchers have pre and post Tommy John surgery data.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Expand dataset to include minor league and amateur stats.</a:t>
            </a:r>
          </a:p>
          <a:p>
            <a:pPr lvl="1"/>
            <a:r>
              <a:rPr lang="en-US" dirty="0"/>
              <a:t>More records may improve accuracy.</a:t>
            </a: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F12B9948-56B3-E162-3D0D-E276EA3E36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14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229"/>
    </mc:Choice>
    <mc:Fallback>
      <p:transition spd="slow" advTm="572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DF4E-2F73-21AD-1A55-D808D52D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C3A51-BC48-1E64-5DAB-ACCDDEF01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Models could discriminate based on demographic information.</a:t>
            </a:r>
          </a:p>
          <a:p>
            <a:pPr lvl="1">
              <a:buFont typeface="Courier New" charset="2"/>
              <a:buChar char="o"/>
            </a:pPr>
            <a:r>
              <a:rPr lang="en-US"/>
              <a:t>High school or college team information. </a:t>
            </a:r>
          </a:p>
          <a:p>
            <a:r>
              <a:rPr lang="en-US"/>
              <a:t>Pitcher livelyhoods effected. </a:t>
            </a:r>
          </a:p>
          <a:p>
            <a:pPr lvl="1">
              <a:buFont typeface="Courier New" charset="2"/>
              <a:buChar char="o"/>
            </a:pPr>
            <a:r>
              <a:rPr lang="en-US"/>
              <a:t>Poor model projection. </a:t>
            </a:r>
          </a:p>
          <a:p>
            <a:pPr lvl="1">
              <a:buFont typeface="Courier New" charset="2"/>
              <a:buChar char="o"/>
            </a:pPr>
            <a:r>
              <a:rPr lang="en-US"/>
              <a:t>Decreased career opportunities for players with few skills outside of baseball. </a:t>
            </a:r>
            <a:endParaRPr lang="en-US" dirty="0"/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08E492E7-B306-0854-3AF0-A56DC46D20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45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278"/>
    </mc:Choice>
    <mc:Fallback>
      <p:transition spd="slow" advTm="612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DBC2-6AAD-976C-D5C1-B9546BFE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pic>
        <p:nvPicPr>
          <p:cNvPr id="3" name="Picture 2" descr="A screenshot of a medical survey&#10;&#10;AI-generated content may be incorrect.">
            <a:extLst>
              <a:ext uri="{FF2B5EF4-FFF2-40B4-BE49-F238E27FC236}">
                <a16:creationId xmlns:a16="http://schemas.microsoft.com/office/drawing/2014/main" id="{106F276D-8E9F-3B1A-CBDF-5CD1A23A8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6" y="1122947"/>
            <a:ext cx="8782685" cy="5735053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395012F1-E9F8-8625-DE50-6C4F804FBB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71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14"/>
    </mc:Choice>
    <mc:Fallback>
      <p:transition spd="slow" advTm="142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677</Words>
  <Application>Microsoft Macintosh PowerPoint</Application>
  <PresentationFormat>Widescreen</PresentationFormat>
  <Paragraphs>110</Paragraphs>
  <Slides>15</Slides>
  <Notes>1</Notes>
  <HiddenSlides>0</HiddenSlides>
  <MMClips>15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Times New Roman</vt:lpstr>
      <vt:lpstr>Trebuchet MS</vt:lpstr>
      <vt:lpstr>Wingdings 3</vt:lpstr>
      <vt:lpstr>Facet</vt:lpstr>
      <vt:lpstr>Predicting Pitcher Performance Post Tommy John Surgery</vt:lpstr>
      <vt:lpstr>Problem Introduction </vt:lpstr>
      <vt:lpstr>Solution and Project Goal</vt:lpstr>
      <vt:lpstr>Dataset and Features </vt:lpstr>
      <vt:lpstr>Models Built</vt:lpstr>
      <vt:lpstr>Data Preparation </vt:lpstr>
      <vt:lpstr>Exploratory Data Analysis</vt:lpstr>
      <vt:lpstr>Regression Model Predicting XWOBA</vt:lpstr>
      <vt:lpstr>Recursive Feature Elimination Model Evaluation </vt:lpstr>
      <vt:lpstr>Durability Classification Model  Will a pitcher throw over 500 pitches upon return from Tommy John? </vt:lpstr>
      <vt:lpstr>Classification Model Evaluation.</vt:lpstr>
      <vt:lpstr>Implementation Recommendations XWOBA Regression Model</vt:lpstr>
      <vt:lpstr>Implementation Recommendations.  Durability Classification Model</vt:lpstr>
      <vt:lpstr>Ethical Considerations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Matthew Heinen</cp:lastModifiedBy>
  <cp:revision>463</cp:revision>
  <dcterms:created xsi:type="dcterms:W3CDTF">2025-03-01T06:18:46Z</dcterms:created>
  <dcterms:modified xsi:type="dcterms:W3CDTF">2025-03-03T02:26:07Z</dcterms:modified>
</cp:coreProperties>
</file>