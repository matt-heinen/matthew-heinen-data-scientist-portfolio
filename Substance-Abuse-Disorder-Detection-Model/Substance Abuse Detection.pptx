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4"/>
    <p:restoredTop sz="94737"/>
  </p:normalViewPr>
  <p:slideViewPr>
    <p:cSldViewPr snapToGrid="0">
      <p:cViewPr varScale="1">
        <p:scale>
          <a:sx n="135" d="100"/>
          <a:sy n="135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2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4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2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46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2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3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7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72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126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69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1769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17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64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0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F20BD-6E91-2E4E-BAFB-00BBC8F4EBE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E0AF0A-520A-CC4B-9A02-D4312A8DA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3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E3D8-BFBB-F3AA-73E2-3A26F5386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Substance Abuse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95AEC-C26D-882D-713E-D12937B4F7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Matthew Heinen</a:t>
            </a:r>
            <a:br>
              <a:rPr lang="en-US" dirty="0"/>
            </a:br>
            <a:r>
              <a:rPr lang="en-US" dirty="0"/>
              <a:t>Bellevue University</a:t>
            </a:r>
            <a:br>
              <a:rPr lang="en-US" dirty="0"/>
            </a:br>
            <a:r>
              <a:rPr lang="en-US" dirty="0"/>
              <a:t>DSC 680: Applied Data Science</a:t>
            </a:r>
          </a:p>
        </p:txBody>
      </p:sp>
    </p:spTree>
    <p:extLst>
      <p:ext uri="{BB962C8B-B14F-4D97-AF65-F5344CB8AC3E}">
        <p14:creationId xmlns:p14="http://schemas.microsoft.com/office/powerpoint/2010/main" val="1965024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47875-B5D5-5967-4C28-A88E8D15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Substance Abuse – Difficult Task, High Consequences.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0E2D-47E5-42CF-63C9-92B06D580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Substance abuse is widespread and challenging to diagnose.</a:t>
            </a:r>
          </a:p>
          <a:p>
            <a:pPr lvl="1"/>
            <a:r>
              <a:rPr lang="en-US" dirty="0"/>
              <a:t>Medical professionals miss over 70% of cannabis abuse cases in a clinical setting.</a:t>
            </a:r>
          </a:p>
          <a:p>
            <a:r>
              <a:rPr lang="en-US" dirty="0"/>
              <a:t>Undetected cases strain families, hospitals, and public resources.</a:t>
            </a:r>
          </a:p>
          <a:p>
            <a:pPr lvl="1"/>
            <a:r>
              <a:rPr lang="en-US" dirty="0"/>
              <a:t>Opioid use cost the US economy over $1 trillion in 2017.</a:t>
            </a:r>
          </a:p>
          <a:p>
            <a:r>
              <a:rPr lang="en-US" dirty="0"/>
              <a:t>A predictive model can help medical staff and families identify likely substance abuse cases for earlier intervention.</a:t>
            </a:r>
          </a:p>
          <a:p>
            <a:pPr lvl="1"/>
            <a:r>
              <a:rPr lang="en-US" dirty="0"/>
              <a:t>Better health outcomes.</a:t>
            </a:r>
          </a:p>
          <a:p>
            <a:pPr lvl="1"/>
            <a:r>
              <a:rPr lang="en-US" dirty="0"/>
              <a:t>Revenue potential for hospital and resource networks.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55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8586-67D2-999B-4F22-B1984A6B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- Substance Abuse and Mental Health Services Administration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84D6-894F-B393-2B33-5C1D865BA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7 million+ patient records</a:t>
            </a:r>
          </a:p>
          <a:p>
            <a:r>
              <a:rPr lang="en-US" sz="2000" dirty="0"/>
              <a:t>40 features per record</a:t>
            </a:r>
          </a:p>
          <a:p>
            <a:pPr lvl="1"/>
            <a:r>
              <a:rPr lang="en-US" sz="2000" dirty="0"/>
              <a:t> Includes age, race, employment, region, mental health history</a:t>
            </a:r>
          </a:p>
          <a:p>
            <a:r>
              <a:rPr lang="en-US" sz="2000" dirty="0"/>
              <a:t>Engineered Target Variable</a:t>
            </a:r>
          </a:p>
          <a:p>
            <a:pPr lvl="1"/>
            <a:r>
              <a:rPr lang="en-US" sz="1800" dirty="0"/>
              <a:t> Substance abuse diagnosis flag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74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orange rectangular bar graph&#10;&#10;AI-generated content may be incorrect.">
            <a:extLst>
              <a:ext uri="{FF2B5EF4-FFF2-40B4-BE49-F238E27FC236}">
                <a16:creationId xmlns:a16="http://schemas.microsoft.com/office/drawing/2014/main" id="{1AEA5857-3186-1EB9-FA6F-8A6915ACF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633" y="661639"/>
            <a:ext cx="6979627" cy="553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0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4FEF115F-033A-4F84-38C9-1344730A4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331" y="308574"/>
            <a:ext cx="10049608" cy="624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4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38951C40-75BF-36B7-E5A9-8B0A23D1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626" y="456316"/>
            <a:ext cx="7630748" cy="576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1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5C87-59D5-0B55-BA4F-C151B37A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9835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8725B-6EAB-ABB2-8294-C3E4FE8DB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9435"/>
            <a:ext cx="8596668" cy="45519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Target Variable:</a:t>
            </a:r>
          </a:p>
          <a:p>
            <a:pPr lvl="1"/>
            <a:r>
              <a:rPr lang="en-US" dirty="0"/>
              <a:t>Engineered from substance abuse diagnosis flag ("SUB")</a:t>
            </a:r>
          </a:p>
          <a:p>
            <a:r>
              <a:rPr lang="en-US" dirty="0"/>
              <a:t>Models Tested: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Decision Tree</a:t>
            </a:r>
          </a:p>
          <a:p>
            <a:pPr lvl="1"/>
            <a:r>
              <a:rPr lang="en-US" dirty="0"/>
              <a:t>Random Forest</a:t>
            </a:r>
          </a:p>
          <a:p>
            <a:pPr lvl="1"/>
            <a:r>
              <a:rPr lang="en-US" dirty="0"/>
              <a:t>Gradient Boosted Trees</a:t>
            </a:r>
          </a:p>
          <a:p>
            <a:pPr lvl="1"/>
            <a:r>
              <a:rPr lang="en-US" dirty="0"/>
              <a:t>MLP Neural Network</a:t>
            </a:r>
          </a:p>
          <a:p>
            <a:r>
              <a:rPr lang="en-US" dirty="0"/>
              <a:t>Training Approach:</a:t>
            </a:r>
          </a:p>
          <a:p>
            <a:pPr lvl="1"/>
            <a:r>
              <a:rPr lang="en-US" dirty="0"/>
              <a:t>Grid search for hyperparameter optimization</a:t>
            </a:r>
          </a:p>
          <a:p>
            <a:pPr lvl="1"/>
            <a:r>
              <a:rPr lang="en-US" dirty="0"/>
              <a:t>80/20 train-test split to reduce overfitting</a:t>
            </a:r>
          </a:p>
          <a:p>
            <a:r>
              <a:rPr lang="en-US" dirty="0"/>
              <a:t>Evaluation Metric:</a:t>
            </a:r>
          </a:p>
          <a:p>
            <a:pPr lvl="1"/>
            <a:r>
              <a:rPr lang="en-US" dirty="0"/>
              <a:t>F2 Score (maximizes true positives and recall)</a:t>
            </a:r>
          </a:p>
          <a:p>
            <a:r>
              <a:rPr lang="en-US" dirty="0"/>
              <a:t>Decision tree selected: Test accuracy 90.1%, F2 score 0.55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955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diagram with numbers and labels&#10;&#10;AI-generated content may be incorrect.">
            <a:extLst>
              <a:ext uri="{FF2B5EF4-FFF2-40B4-BE49-F238E27FC236}">
                <a16:creationId xmlns:a16="http://schemas.microsoft.com/office/drawing/2014/main" id="{1EBA37EC-0BFC-9517-564A-617616F97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022" y="510368"/>
            <a:ext cx="6482978" cy="583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58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blue bars&#10;&#10;AI-generated content may be incorrect.">
            <a:extLst>
              <a:ext uri="{FF2B5EF4-FFF2-40B4-BE49-F238E27FC236}">
                <a16:creationId xmlns:a16="http://schemas.microsoft.com/office/drawing/2014/main" id="{D3E28052-9380-63CF-8E63-0D721DF4C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626" y="811408"/>
            <a:ext cx="8784748" cy="523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09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5826-E1DC-4377-2AB1-9714C0FA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Implementation, Limitations and 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E8C6-20AC-0BBA-8C76-B28662B1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Recommended implementation for helping diagnose substance abuse. </a:t>
            </a:r>
          </a:p>
          <a:p>
            <a:pPr lvl="1"/>
            <a:r>
              <a:rPr lang="en-US" dirty="0"/>
              <a:t>Use in hospitals/clinics for screening patients- allowing providers to be more alert. </a:t>
            </a:r>
          </a:p>
          <a:p>
            <a:pPr lvl="1"/>
            <a:r>
              <a:rPr lang="en-US" dirty="0"/>
              <a:t>Online tool for families to assess loved ones.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Data only from SAMHSA-funded hospitals—may not apply to other settings</a:t>
            </a:r>
          </a:p>
          <a:p>
            <a:pPr lvl="1"/>
            <a:r>
              <a:rPr lang="en-US" dirty="0"/>
              <a:t>Requires accurate previous health care information. </a:t>
            </a:r>
          </a:p>
          <a:p>
            <a:r>
              <a:rPr lang="en-US" dirty="0"/>
              <a:t>Ethical Considerations</a:t>
            </a:r>
          </a:p>
          <a:p>
            <a:pPr lvl="1"/>
            <a:r>
              <a:rPr lang="en-US" dirty="0"/>
              <a:t>Model maximizes true positives: risk of false positives exists</a:t>
            </a:r>
          </a:p>
          <a:p>
            <a:pPr lvl="2"/>
            <a:r>
              <a:rPr lang="en-US" dirty="0"/>
              <a:t>False diagnosis can impact emotional and financial well-being</a:t>
            </a:r>
          </a:p>
          <a:p>
            <a:pPr lvl="1"/>
            <a:r>
              <a:rPr lang="en-US" dirty="0"/>
              <a:t>False Negatives</a:t>
            </a:r>
          </a:p>
          <a:p>
            <a:pPr lvl="2"/>
            <a:r>
              <a:rPr lang="en-US" dirty="0"/>
              <a:t>Patients will not receive </a:t>
            </a:r>
            <a:r>
              <a:rPr lang="en-US"/>
              <a:t>the treatment they need.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324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296</Words>
  <Application>Microsoft Macintosh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Predicting Substance Abuse </vt:lpstr>
      <vt:lpstr>Predicting Substance Abuse – Difficult Task, High Consequences. </vt:lpstr>
      <vt:lpstr>Data - Substance Abuse and Mental Health Services Administration</vt:lpstr>
      <vt:lpstr>PowerPoint Presentation</vt:lpstr>
      <vt:lpstr>PowerPoint Presentation</vt:lpstr>
      <vt:lpstr>PowerPoint Presentation</vt:lpstr>
      <vt:lpstr>Methods</vt:lpstr>
      <vt:lpstr>PowerPoint Presentation</vt:lpstr>
      <vt:lpstr>PowerPoint Presentation</vt:lpstr>
      <vt:lpstr>Implementation, Limitations and Ethical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Heinen</dc:creator>
  <cp:lastModifiedBy>Matthew Heinen</cp:lastModifiedBy>
  <cp:revision>2</cp:revision>
  <dcterms:created xsi:type="dcterms:W3CDTF">2025-11-23T03:58:55Z</dcterms:created>
  <dcterms:modified xsi:type="dcterms:W3CDTF">2025-11-23T04:31:18Z</dcterms:modified>
</cp:coreProperties>
</file>